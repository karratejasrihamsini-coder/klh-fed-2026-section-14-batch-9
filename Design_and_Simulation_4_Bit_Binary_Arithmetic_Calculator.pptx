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1097280"/>
            <a:ext cx="3017520" cy="16459"/>
          </a:xfrm>
          <a:prstGeom prst="rect">
            <a:avLst/>
          </a:prstGeom>
          <a:solidFill>
            <a:srgbClr val="122545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2057400"/>
            <a:ext cx="3017520" cy="16459"/>
          </a:xfrm>
          <a:prstGeom prst="rect">
            <a:avLst/>
          </a:prstGeom>
          <a:solidFill>
            <a:srgbClr val="122545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3017520"/>
            <a:ext cx="3017520" cy="16459"/>
          </a:xfrm>
          <a:prstGeom prst="rect">
            <a:avLst/>
          </a:prstGeom>
          <a:solidFill>
            <a:srgbClr val="122545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3977640"/>
            <a:ext cx="3017520" cy="16459"/>
          </a:xfrm>
          <a:prstGeom prst="rect">
            <a:avLst/>
          </a:prstGeom>
          <a:solidFill>
            <a:srgbClr val="122545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937760"/>
            <a:ext cx="3017520" cy="16459"/>
          </a:xfrm>
          <a:prstGeom prst="rect">
            <a:avLst/>
          </a:prstGeom>
          <a:solidFill>
            <a:srgbClr val="122545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66760" y="114300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0" y="210312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306324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0" y="402336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498348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943600"/>
            <a:ext cx="109728" cy="109728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S4 / S12  •  FINAL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234440"/>
            <a:ext cx="6949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AEC0D7"/>
                </a:solidFill>
                <a:latin typeface="Aptos"/>
              </a:defRPr>
            </a:pPr>
            <a:r>
              <a:t>DESIGN &amp; SIMULATION OF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737360"/>
            <a:ext cx="7315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5F9FF"/>
                </a:solidFill>
                <a:latin typeface="Aptos"/>
              </a:defRPr>
            </a:pPr>
            <a:r>
              <a:t>4-BIT BINARY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77724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37DCE6"/>
                </a:solidFill>
                <a:latin typeface="Aptos"/>
              </a:defRPr>
            </a:pPr>
            <a:r>
              <a:t>ARITHMETIC CALCULATOR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675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A digital-logic circuit for binary arithmetic using switches, gates and adders.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6949440" cy="1508760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0799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82312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E. Yashwanth Chowdary  —  2620030377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0056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K. Teja Sri Hamsini  —  2620030382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K. Guna Nandini  —  2620030427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95544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E. Lokesh Kumar  —  2620030368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AEC0D7"/>
                </a:solidFill>
                <a:latin typeface="Aptos"/>
              </a:defRPr>
            </a:pPr>
            <a:r>
              <a:t>Section: S4 /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1148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9FF"/>
                </a:solidFill>
                <a:latin typeface="Aptos"/>
              </a:defRPr>
            </a:pPr>
            <a:r>
              <a:t>Introduction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7"/>
                </a:solidFill>
                <a:latin typeface="Aptos"/>
              </a:defRPr>
            </a:pPr>
            <a:r>
              <a:t>DIGITAL LOGIC  •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A compact calculator that represents numbers in binary and performs arithmetic through digital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520440" cy="1417320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54864" cy="1417320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DCE6"/>
                </a:solidFill>
                <a:latin typeface="Aptos"/>
              </a:defRPr>
            </a:pPr>
            <a:r>
              <a:t>WHAT IS 4-BIT?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62072"/>
            <a:ext cx="315468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5F9FF"/>
                </a:solidFill>
                <a:latin typeface="Aptos"/>
              </a:defRPr>
            </a:pPr>
            <a:r>
              <a:t>Four binary digits; each bit is 0 or 1. Unsigned range: 0–15.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3520440" cy="1417320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31720"/>
            <a:ext cx="54864" cy="1417320"/>
          </a:xfrm>
          <a:prstGeom prst="rect">
            <a:avLst/>
          </a:prstGeom>
          <a:solidFill>
            <a:srgbClr val="1FBEAF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47802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FBEAF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62072"/>
            <a:ext cx="315468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5F9FF"/>
                </a:solidFill>
                <a:latin typeface="Aptos"/>
              </a:defRPr>
            </a:pPr>
            <a:r>
              <a:t>Design, simulate and test a 4-bit arithmetic circuit in Logisim Evolution.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331720"/>
            <a:ext cx="3520440" cy="1417320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331720"/>
            <a:ext cx="54864" cy="1417320"/>
          </a:xfrm>
          <a:prstGeom prst="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47802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C66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862072"/>
            <a:ext cx="315468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5F9FF"/>
                </a:solidFill>
                <a:latin typeface="Aptos"/>
              </a:defRPr>
            </a:pPr>
            <a:r>
              <a:t>Binary result bits, with carry/borrow status where supported.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PROJECT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17720"/>
            <a:ext cx="2057400" cy="82296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7365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3659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4809744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BE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617720"/>
            <a:ext cx="2057400" cy="82296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47365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73659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4809744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BE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59" y="4617720"/>
            <a:ext cx="2057400" cy="82296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47365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73659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Arithmetic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4809744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BEA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19" y="4617720"/>
            <a:ext cx="2057400" cy="822960"/>
          </a:xfrm>
          <a:prstGeom prst="roundRect">
            <a:avLst/>
          </a:prstGeom>
          <a:solidFill>
            <a:srgbClr val="122545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7" y="47365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4736592"/>
            <a:ext cx="1280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Note: a 4-bit result can overflow the 0–15 range; the carry-out is useful to observe.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02 •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9FF"/>
                </a:solidFill>
                <a:latin typeface="Aptos"/>
              </a:defRPr>
            </a:pPr>
            <a:r>
              <a:t>Theory &amp; Logic 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7"/>
                </a:solidFill>
                <a:latin typeface="Aptos"/>
              </a:defRPr>
            </a:pPr>
            <a:r>
              <a:t>DIGITAL LOGIC  •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Binary place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82296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EC0D7"/>
                </a:solidFill>
                <a:latin typeface="Aptos"/>
              </a:defRPr>
            </a:pPr>
            <a:r>
              <a:t>2³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920240"/>
            <a:ext cx="82296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029968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042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EC0D7"/>
                </a:solidFill>
                <a:latin typeface="Aptos"/>
              </a:defRPr>
            </a:pPr>
            <a:r>
              <a:t>2²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920240"/>
            <a:ext cx="82296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029968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3042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EC0D7"/>
                </a:solidFill>
                <a:latin typeface="Aptos"/>
              </a:defRPr>
            </a:pPr>
            <a:r>
              <a:t>2¹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920240"/>
            <a:ext cx="82296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029968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042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AEC0D7"/>
                </a:solidFill>
                <a:latin typeface="Aptos"/>
              </a:defRPr>
            </a:pPr>
            <a:r>
              <a:t>2⁰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5087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Core 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1920240"/>
            <a:ext cx="114300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112264"/>
            <a:ext cx="1143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1920240"/>
            <a:ext cx="114300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12264"/>
            <a:ext cx="1143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FBEA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1920240"/>
            <a:ext cx="114300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FF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112264"/>
            <a:ext cx="1143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7A7A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20240"/>
            <a:ext cx="114300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2112264"/>
            <a:ext cx="1143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C66"/>
                </a:solidFill>
                <a:latin typeface="Aptos"/>
              </a:defRPr>
            </a:pPr>
            <a:r>
              <a:t>XOR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2743200"/>
            <a:ext cx="5669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7"/>
                </a:solidFill>
                <a:latin typeface="Aptos"/>
              </a:defRPr>
            </a:pPr>
            <a:r>
              <a:t>AND: both 1  •  OR: at least one 1  •  NOT: invert  •  XOR: inputs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4-bit adder block diagram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886200"/>
            <a:ext cx="1600200" cy="64008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69080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A[3:0]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800600"/>
            <a:ext cx="1600200" cy="640080"/>
          </a:xfrm>
          <a:prstGeom prst="roundRect">
            <a:avLst/>
          </a:prstGeom>
          <a:solidFill>
            <a:srgbClr val="122545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983480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B[3:0]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4114800"/>
            <a:ext cx="2377440" cy="1005840"/>
          </a:xfrm>
          <a:prstGeom prst="roundRect">
            <a:avLst/>
          </a:prstGeom>
          <a:solidFill>
            <a:srgbClr val="192F51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441655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CC66"/>
                </a:solidFill>
                <a:latin typeface="Aptos"/>
              </a:defRPr>
            </a:pPr>
            <a:r>
              <a:t>4-BIT ADDER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23160" y="4206240"/>
            <a:ext cx="1234440" cy="0"/>
          </a:xfrm>
          <a:prstGeom prst="line">
            <a:avLst/>
          </a:prstGeom>
          <a:ln w="25400">
            <a:solidFill>
              <a:srgbClr val="37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23160" y="4892040"/>
            <a:ext cx="1234440" cy="228600"/>
          </a:xfrm>
          <a:prstGeom prst="line">
            <a:avLst/>
          </a:prstGeom>
          <a:ln w="25400">
            <a:solidFill>
              <a:srgbClr val="1F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315200" y="3886200"/>
            <a:ext cx="1691640" cy="640080"/>
          </a:xfrm>
          <a:prstGeom prst="roundRect">
            <a:avLst/>
          </a:prstGeom>
          <a:solidFill>
            <a:srgbClr val="122545"/>
          </a:solidFill>
          <a:ln>
            <a:solidFill>
              <a:srgbClr val="68E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069080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68E6A6"/>
                </a:solidFill>
                <a:latin typeface="Aptos"/>
              </a:defRPr>
            </a:pPr>
            <a:r>
              <a:t>SUM[3:0]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800600"/>
            <a:ext cx="1691640" cy="640080"/>
          </a:xfrm>
          <a:prstGeom prst="roundRect">
            <a:avLst/>
          </a:prstGeom>
          <a:solidFill>
            <a:srgbClr val="122545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4983480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CC66"/>
                </a:solidFill>
                <a:latin typeface="Aptos"/>
              </a:defRPr>
            </a:pPr>
            <a:r>
              <a:t>CARRY OUT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035040" y="4206240"/>
            <a:ext cx="1280160" cy="411480"/>
          </a:xfrm>
          <a:prstGeom prst="line">
            <a:avLst/>
          </a:prstGeom>
          <a:ln w="25400">
            <a:solidFill>
              <a:srgbClr val="68E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35040" y="4617720"/>
            <a:ext cx="1280160" cy="502920"/>
          </a:xfrm>
          <a:prstGeom prst="line">
            <a:avLst/>
          </a:prstGeom>
          <a:ln w="25400">
            <a:solidFill>
              <a:srgbClr val="FFC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98280" y="3977639"/>
            <a:ext cx="23774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5F9FF"/>
                </a:solidFill>
                <a:latin typeface="Aptos"/>
              </a:defRPr>
            </a:pPr>
            <a:r>
              <a:t>Each full-adder stage adds Aᵢ, Bᵢ and the carry from the previous stage.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DCE6"/>
                </a:solidFill>
                <a:latin typeface="Aptos"/>
              </a:defRPr>
            </a:pPr>
            <a:r>
              <a:t>S = A ⊕ B ⊕ Cᵢ     |     Cₒ = AB + ACᵢ + BCᵢ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9FF"/>
                </a:solidFill>
                <a:latin typeface="Aptos"/>
              </a:defRPr>
            </a:pPr>
            <a:r>
              <a:t>Circuit Design in Logisim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7"/>
                </a:solidFill>
                <a:latin typeface="Aptos"/>
              </a:defRPr>
            </a:pPr>
            <a:r>
              <a:t>DIGITAL LOGIC  •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Implementation overview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920240"/>
            <a:ext cx="438912" cy="438912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C18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911096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Place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01952"/>
            <a:ext cx="4114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Use 4-bit input pins or four switches for A and B.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34640"/>
            <a:ext cx="438912" cy="438912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16936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C18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825496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Build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16352"/>
            <a:ext cx="4114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Use a 4-bit adder or connect four full-adder stages.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749039"/>
            <a:ext cx="438912" cy="438912"/>
          </a:xfrm>
          <a:prstGeom prst="ellipse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5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C18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739896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Connect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30752"/>
            <a:ext cx="4114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Attach sum bits and carry-out to output pins/LEDs.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63440"/>
            <a:ext cx="438912" cy="438912"/>
          </a:xfrm>
          <a:prstGeom prst="ellipse">
            <a:avLst/>
          </a:prstGeom>
          <a:solidFill>
            <a:srgbClr val="1FBEAF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45736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C18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654296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Test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45152"/>
            <a:ext cx="4114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Change A and B and verify the displayed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691640"/>
            <a:ext cx="3657600" cy="4160520"/>
          </a:xfrm>
          <a:prstGeom prst="roundRect">
            <a:avLst/>
          </a:prstGeom>
          <a:solidFill>
            <a:srgbClr val="0F1F37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874519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LOGISIM WORKSPACE (SCHEMATIC)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468880"/>
            <a:ext cx="1234440" cy="50292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606040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5F9FF"/>
                </a:solidFill>
                <a:latin typeface="Aptos"/>
              </a:defRPr>
            </a:pPr>
            <a:r>
              <a:t>A[3:0] = 0101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246120"/>
            <a:ext cx="1234440" cy="502920"/>
          </a:xfrm>
          <a:prstGeom prst="roundRect">
            <a:avLst/>
          </a:prstGeom>
          <a:solidFill>
            <a:srgbClr val="122545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79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5F9FF"/>
                </a:solidFill>
                <a:latin typeface="Aptos"/>
              </a:defRPr>
            </a:pPr>
            <a:r>
              <a:t>B[3:0] = 0011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18320" y="2724912"/>
            <a:ext cx="320040" cy="246888"/>
          </a:xfrm>
          <a:prstGeom prst="line">
            <a:avLst/>
          </a:prstGeom>
          <a:ln w="25400">
            <a:solidFill>
              <a:srgbClr val="37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418320" y="3429000"/>
            <a:ext cx="320040" cy="73152"/>
          </a:xfrm>
          <a:prstGeom prst="line">
            <a:avLst/>
          </a:prstGeom>
          <a:ln w="25400">
            <a:solidFill>
              <a:srgbClr val="1F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60" y="2788920"/>
            <a:ext cx="1234440" cy="1005840"/>
          </a:xfrm>
          <a:prstGeom prst="roundRect">
            <a:avLst/>
          </a:prstGeom>
          <a:solidFill>
            <a:srgbClr val="192F51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063240"/>
            <a:ext cx="1143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C66"/>
                </a:solidFill>
                <a:latin typeface="Aptos"/>
              </a:defRPr>
            </a:pPr>
            <a:r>
              <a:t>4-BIT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CC66"/>
                </a:solidFill>
                <a:latin typeface="Aptos"/>
              </a:defRPr>
            </a:pPr>
            <a:r>
              <a:t>ADDER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72800" y="3291840"/>
            <a:ext cx="228600" cy="0"/>
          </a:xfrm>
          <a:prstGeom prst="line">
            <a:avLst/>
          </a:prstGeom>
          <a:ln w="25400">
            <a:solidFill>
              <a:srgbClr val="68E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75520" y="4251960"/>
            <a:ext cx="1417320" cy="685800"/>
          </a:xfrm>
          <a:prstGeom prst="roundRect">
            <a:avLst/>
          </a:prstGeom>
          <a:solidFill>
            <a:srgbClr val="122545"/>
          </a:solidFill>
          <a:ln>
            <a:solidFill>
              <a:srgbClr val="68E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4471416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68E6A6"/>
                </a:solidFill>
                <a:latin typeface="Aptos"/>
              </a:defRPr>
            </a:pPr>
            <a:r>
              <a:t>SUM = 1000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166360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7"/>
                </a:solidFill>
                <a:latin typeface="Aptos"/>
              </a:defRPr>
            </a:pPr>
            <a:r>
              <a:t>Illustrative block diagram — replace this panel with your actual Logisim screenshot before submission.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5216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FCC66"/>
                </a:solidFill>
                <a:latin typeface="Aptos"/>
              </a:defRPr>
            </a:pPr>
            <a:r>
              <a:t>If subtraction is included, use a mode control and two's-complement logic (B ⊕ SUB, carry-in = SUB).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04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9FF"/>
                </a:solidFill>
                <a:latin typeface="Aptos"/>
              </a:defRPr>
            </a:pPr>
            <a:r>
              <a:t>Simulation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7"/>
                </a:solidFill>
                <a:latin typeface="Aptos"/>
              </a:defRPr>
            </a:pPr>
            <a:r>
              <a:t>DIGITAL LOGIC  •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7DCE6"/>
                </a:solidFill>
                <a:latin typeface="Aptos"/>
              </a:defRPr>
            </a:pPr>
            <a:r>
              <a:t>Example test cases for a 4-bit unsigned 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4173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965960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41731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65960"/>
            <a:ext cx="132588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103120"/>
            <a:ext cx="12344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A +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965960"/>
            <a:ext cx="123444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03120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Carry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65960"/>
            <a:ext cx="274320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478024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15184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478024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2615184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478024"/>
            <a:ext cx="132588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615184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478024"/>
            <a:ext cx="123444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615184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78024"/>
            <a:ext cx="274320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615184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F9FF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990088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127248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2990088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76856" y="3127248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2990088"/>
            <a:ext cx="132588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127248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990088"/>
            <a:ext cx="123444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1496" y="3127248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990088"/>
            <a:ext cx="274320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3127248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F9FF"/>
                </a:solidFill>
                <a:latin typeface="Aptos"/>
              </a:defRPr>
            </a:pPr>
            <a:r>
              <a:t>0010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502152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3639312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0101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3502152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76856" y="3639312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3502152"/>
            <a:ext cx="132588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5615" y="3639312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3502152"/>
            <a:ext cx="123444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11496" y="3639312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502152"/>
            <a:ext cx="274320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3639312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F9FF"/>
                </a:solidFill>
                <a:latin typeface="Aptos"/>
              </a:defRPr>
            </a:pPr>
            <a:r>
              <a:t>1000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014216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4151376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0111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4014216"/>
            <a:ext cx="150876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76856" y="4151376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4014216"/>
            <a:ext cx="132588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85615" y="4151376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4920" y="4014216"/>
            <a:ext cx="123444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11496" y="4151376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014216"/>
            <a:ext cx="2743200" cy="512064"/>
          </a:xfrm>
          <a:prstGeom prst="rect">
            <a:avLst/>
          </a:prstGeom>
          <a:solidFill>
            <a:srgbClr val="122545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151376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F9FF"/>
                </a:solidFill>
                <a:latin typeface="Aptos"/>
              </a:defRPr>
            </a:pPr>
            <a:r>
              <a:t>1000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4526280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4663440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1111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4526280"/>
            <a:ext cx="150876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76856" y="4663440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0001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39" y="4526280"/>
            <a:ext cx="132588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85615" y="4663440"/>
            <a:ext cx="1252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74920" y="4526280"/>
            <a:ext cx="123444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11496" y="4663440"/>
            <a:ext cx="11612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526280"/>
            <a:ext cx="2743200" cy="512064"/>
          </a:xfrm>
          <a:prstGeom prst="rect">
            <a:avLst/>
          </a:prstGeom>
          <a:solidFill>
            <a:srgbClr val="192F51"/>
          </a:solidFill>
          <a:ln>
            <a:solidFill>
              <a:srgbClr val="35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5936" y="4663440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5F9FF"/>
                </a:solidFill>
                <a:latin typeface="Aptos"/>
              </a:defRPr>
            </a:pPr>
            <a:r>
              <a:t>0000 + carry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78240" y="1965960"/>
            <a:ext cx="2651760" cy="2194560"/>
          </a:xfrm>
          <a:prstGeom prst="roundRect">
            <a:avLst/>
          </a:prstGeom>
          <a:solidFill>
            <a:srgbClr val="192F51"/>
          </a:solidFill>
          <a:ln>
            <a:solidFill>
              <a:srgbClr val="1F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40" y="2194560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BEAF"/>
                </a:solidFill>
                <a:latin typeface="Aptos"/>
              </a:defRPr>
            </a:pPr>
            <a:r>
              <a:t>WORKED RESULT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2606040"/>
            <a:ext cx="201168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5F9FF"/>
                </a:solidFill>
                <a:latin typeface="Aptos"/>
              </a:defRPr>
            </a:pPr>
            <a:r>
              <a:t>0101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5F9FF"/>
                </a:solidFill>
                <a:latin typeface="Aptos"/>
              </a:defRPr>
            </a:pPr>
            <a:r>
              <a:t>+ 0011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5F9FF"/>
                </a:solidFill>
                <a:latin typeface="Aptos"/>
              </a:defRPr>
            </a:pPr>
            <a:r>
              <a:t>──────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5F9FF"/>
                </a:solidFill>
                <a:latin typeface="Aptos"/>
              </a:defRPr>
            </a:pPr>
            <a:r>
              <a:t> 1000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365760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68E6A6"/>
                </a:solidFill>
                <a:latin typeface="Aptos"/>
              </a:defRPr>
            </a:pPr>
            <a:r>
              <a:t>5 + 3 = 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DCE6"/>
                </a:solidFill>
                <a:latin typeface="Aptos"/>
              </a:defRPr>
            </a:pPr>
            <a:r>
              <a:t>Truth table note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5349240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7"/>
                </a:solidFill>
                <a:latin typeface="Aptos"/>
              </a:defRPr>
            </a:pPr>
            <a:r>
              <a:t>A complete truth table for a 4-bit adder has 2⁸ = 256 input combinations (four bits for A and four for B). The table above is a concise set of representative tests, not the complete truth table.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FCC66"/>
                </a:solidFill>
                <a:latin typeface="Aptos"/>
              </a:defRPr>
            </a:pPr>
            <a:r>
              <a:t>Replace the illustrative result panel with a real screenshot from your Logisim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7DCE6"/>
                </a:solidFill>
                <a:latin typeface="Aptos"/>
              </a:defRPr>
            </a:pPr>
            <a:r>
              <a:t>05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9FF"/>
                </a:solidFill>
                <a:latin typeface="Aptos"/>
              </a:defRPr>
            </a:pPr>
            <a:r>
              <a:t>Conclusion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05840" cy="41148"/>
          </a:xfrm>
          <a:prstGeom prst="rect">
            <a:avLst/>
          </a:prstGeom>
          <a:solidFill>
            <a:srgbClr val="37DCE6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AEC0D7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AEC0D7"/>
                </a:solidFill>
                <a:latin typeface="Aptos"/>
              </a:defRPr>
            </a:pPr>
            <a:r>
              <a:t>DIGITAL LOGIC  •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DCE6"/>
                </a:solidFill>
                <a:latin typeface="Aptos"/>
              </a:defRPr>
            </a:pPr>
            <a:r>
              <a:t>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303520" cy="2651760"/>
          </a:xfrm>
          <a:prstGeom prst="rect">
            <a:avLst/>
          </a:prstGeom>
          <a:noFill/>
        </p:spPr>
        <p:txBody>
          <a:bodyPr wrap="square" lIns="36576" rIns="18288" tIns="27432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9FF"/>
                </a:solidFill>
                <a:latin typeface="Aptos"/>
              </a:defRPr>
            </a:pPr>
            <a:r>
              <a:t>•  Represented unsigned values using four binary bits.</a:t>
            </a:r>
          </a:p>
          <a:p>
            <a:pPr>
              <a:spcAft>
                <a:spcPts val="1200"/>
              </a:spcAft>
              <a:defRPr sz="1600">
                <a:solidFill>
                  <a:srgbClr val="F5F9FF"/>
                </a:solidFill>
                <a:latin typeface="Aptos"/>
              </a:defRPr>
            </a:pPr>
            <a:r>
              <a:t>•  Applied logic-gate and adder principles to arithmetic.</a:t>
            </a:r>
          </a:p>
          <a:p>
            <a:pPr>
              <a:spcAft>
                <a:spcPts val="1200"/>
              </a:spcAft>
              <a:defRPr sz="1600">
                <a:solidFill>
                  <a:srgbClr val="F5F9FF"/>
                </a:solidFill>
                <a:latin typeface="Aptos"/>
              </a:defRPr>
            </a:pPr>
            <a:r>
              <a:t>•  Outlined a Logisim simulation and representative verification tests.</a:t>
            </a:r>
          </a:p>
          <a:p>
            <a:pPr>
              <a:spcAft>
                <a:spcPts val="1200"/>
              </a:spcAft>
              <a:defRPr sz="1600">
                <a:solidFill>
                  <a:srgbClr val="F5F9FF"/>
                </a:solidFill>
                <a:latin typeface="Aptos"/>
              </a:defRPr>
            </a:pPr>
            <a:r>
              <a:t>•  Observed why carry-out matters when results exceed 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FBEA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38528"/>
            <a:ext cx="4983480" cy="621792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29968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DCE6"/>
                </a:solidFill>
                <a:latin typeface="Aptos"/>
              </a:defRPr>
            </a:pPr>
            <a:r>
              <a:t>CPU / ALU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29968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Arithmetic and logic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4983480" cy="621792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DCE6"/>
                </a:solidFill>
                <a:latin typeface="Aptos"/>
              </a:defRPr>
            </a:pPr>
            <a:r>
              <a:t>Embedded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834640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Small digital control and processing circuits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47872"/>
            <a:ext cx="4983480" cy="621792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39312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DCE6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639312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Learning combinational logic and simulation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52544"/>
            <a:ext cx="4983480" cy="621792"/>
          </a:xfrm>
          <a:prstGeom prst="roundRect">
            <a:avLst/>
          </a:prstGeom>
          <a:solidFill>
            <a:srgbClr val="192F51"/>
          </a:solidFill>
          <a:ln>
            <a:solidFill>
              <a:srgbClr val="12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443983"/>
            <a:ext cx="1600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CC66"/>
                </a:solidFill>
                <a:latin typeface="Aptos"/>
              </a:defRPr>
            </a:pPr>
            <a:r>
              <a:t>Future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443983"/>
            <a:ext cx="2971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Add/subtract mode, overflow flag, display and more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57800"/>
            <a:ext cx="10607040" cy="731520"/>
          </a:xfrm>
          <a:prstGeom prst="roundRect">
            <a:avLst/>
          </a:prstGeom>
          <a:solidFill>
            <a:srgbClr val="122545"/>
          </a:solidFill>
          <a:ln>
            <a:solidFill>
              <a:srgbClr val="3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7DCE6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413248"/>
            <a:ext cx="8412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9FF"/>
                </a:solidFill>
                <a:latin typeface="Aptos"/>
              </a:defRPr>
            </a:pPr>
            <a:r>
              <a:t>A small 4-bit circuit demonstrates the same binary arithmetic principles used inside larger digital systems.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7"/>
                </a:solidFill>
                <a:latin typeface="Aptos"/>
              </a:defRPr>
            </a:pPr>
            <a:r>
              <a:t>TEAM: Yashwanth Chowdary • Teja Sri Hamsini • Guna Nandini • Lokesh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